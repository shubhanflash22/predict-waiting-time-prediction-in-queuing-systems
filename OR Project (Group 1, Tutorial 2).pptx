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6"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bec4197a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bec4197a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bec4197a3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bec4197a3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bec4197a3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bec4197a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bec4197a3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bec4197a3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ec4197a3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ec4197a3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bfaa636c6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bfaa636c6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ieeexplore.ieee.org/document/9027796" TargetMode="External"/><Relationship Id="rId4" Type="http://schemas.openxmlformats.org/officeDocument/2006/relationships/hyperlink" Target="https://www.scss.tcd.ie/publications/theses/diss/2018/TCD-SCSS-DISSERTATION-2018-023.pdf" TargetMode="External"/><Relationship Id="rId5" Type="http://schemas.openxmlformats.org/officeDocument/2006/relationships/hyperlink" Target="https://www.qminder.com/what-is-queuing-solu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3"/>
          <p:cNvSpPr txBox="1"/>
          <p:nvPr>
            <p:ph type="ctrTitle"/>
          </p:nvPr>
        </p:nvSpPr>
        <p:spPr>
          <a:xfrm>
            <a:off x="460950" y="1483901"/>
            <a:ext cx="8222100" cy="1087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3000"/>
              <a:t>WAITING TIME PREDICTION IN </a:t>
            </a:r>
            <a:r>
              <a:rPr lang="en" sz="3000"/>
              <a:t>QUEUING</a:t>
            </a:r>
            <a:r>
              <a:rPr lang="en" sz="3000"/>
              <a:t> SYSTEMS USING MACHINE LEARNING</a:t>
            </a:r>
            <a:endParaRPr sz="3000"/>
          </a:p>
        </p:txBody>
      </p:sp>
      <p:sp>
        <p:nvSpPr>
          <p:cNvPr id="86" name="Google Shape;86;p13"/>
          <p:cNvSpPr txBox="1"/>
          <p:nvPr/>
        </p:nvSpPr>
        <p:spPr>
          <a:xfrm>
            <a:off x="5364500" y="3114225"/>
            <a:ext cx="3043800" cy="415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500">
                <a:solidFill>
                  <a:srgbClr val="FFFFFF"/>
                </a:solidFill>
                <a:latin typeface="Roboto"/>
                <a:ea typeface="Roboto"/>
                <a:cs typeface="Roboto"/>
                <a:sym typeface="Roboto"/>
              </a:rPr>
              <a:t>- </a:t>
            </a:r>
            <a:r>
              <a:rPr lang="en" sz="1500">
                <a:solidFill>
                  <a:srgbClr val="FFFFFF"/>
                </a:solidFill>
                <a:latin typeface="Roboto"/>
                <a:ea typeface="Roboto"/>
                <a:cs typeface="Roboto"/>
                <a:sym typeface="Roboto"/>
              </a:rPr>
              <a:t>GROUP 1, TUTORIAL 2</a:t>
            </a:r>
            <a:endParaRPr sz="15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572900" y="35842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NEED FOR STUDY</a:t>
            </a:r>
            <a:endParaRPr/>
          </a:p>
        </p:txBody>
      </p:sp>
      <p:sp>
        <p:nvSpPr>
          <p:cNvPr id="92" name="Google Shape;92;p14"/>
          <p:cNvSpPr txBox="1"/>
          <p:nvPr>
            <p:ph idx="1" type="body"/>
          </p:nvPr>
        </p:nvSpPr>
        <p:spPr>
          <a:xfrm>
            <a:off x="69525" y="1132075"/>
            <a:ext cx="8883300" cy="3339000"/>
          </a:xfrm>
          <a:prstGeom prst="rect">
            <a:avLst/>
          </a:prstGeom>
        </p:spPr>
        <p:txBody>
          <a:bodyPr anchorCtr="0" anchor="t" bIns="91425" lIns="91425" spcFirstLastPara="1" rIns="91425" wrap="square" tIns="91425">
            <a:noAutofit/>
          </a:bodyPr>
          <a:lstStyle/>
          <a:p>
            <a:pPr indent="-311150" lvl="0" marL="457200" rtl="0" algn="just">
              <a:lnSpc>
                <a:spcPct val="150000"/>
              </a:lnSpc>
              <a:spcBef>
                <a:spcPts val="0"/>
              </a:spcBef>
              <a:spcAft>
                <a:spcPts val="0"/>
              </a:spcAft>
              <a:buSzPts val="1300"/>
              <a:buChar char="●"/>
            </a:pPr>
            <a:r>
              <a:rPr lang="en" sz="1300"/>
              <a:t>Using queueing theory, queue managers aim to balance a queueing </a:t>
            </a:r>
            <a:r>
              <a:rPr lang="en" sz="1300"/>
              <a:t>system</a:t>
            </a:r>
            <a:r>
              <a:rPr lang="en" sz="1300"/>
              <a:t> service to customers by keeping the queues short and thus the waiting times low (that might mean an increased number of servers), and the economic upkeep of the system (that would mean to keep the number of servers low). By constructing a queueing model, the waiting time for any client, and the queue length at any time can be predicted. </a:t>
            </a:r>
            <a:endParaRPr sz="1300"/>
          </a:p>
          <a:p>
            <a:pPr indent="-311150" lvl="0" marL="457200" rtl="0" algn="just">
              <a:lnSpc>
                <a:spcPct val="150000"/>
              </a:lnSpc>
              <a:spcBef>
                <a:spcPts val="0"/>
              </a:spcBef>
              <a:spcAft>
                <a:spcPts val="0"/>
              </a:spcAft>
              <a:buSzPts val="1300"/>
              <a:buChar char="●"/>
            </a:pPr>
            <a:r>
              <a:rPr lang="en" sz="1300">
                <a:solidFill>
                  <a:srgbClr val="014242"/>
                </a:solidFill>
                <a:highlight>
                  <a:srgbClr val="FFFFFF"/>
                </a:highlight>
                <a:latin typeface="Arial"/>
                <a:ea typeface="Arial"/>
                <a:cs typeface="Arial"/>
                <a:sym typeface="Arial"/>
              </a:rPr>
              <a:t>By providing your customers with fair, reasonable, explained wait times, you’re building loyal customer base for your business</a:t>
            </a:r>
            <a:r>
              <a:rPr lang="en" sz="1300"/>
              <a:t>.</a:t>
            </a:r>
            <a:endParaRPr sz="1300"/>
          </a:p>
          <a:p>
            <a:pPr indent="-311150" lvl="0" marL="457200" rtl="0" algn="just">
              <a:lnSpc>
                <a:spcPct val="150000"/>
              </a:lnSpc>
              <a:spcBef>
                <a:spcPts val="0"/>
              </a:spcBef>
              <a:spcAft>
                <a:spcPts val="0"/>
              </a:spcAft>
              <a:buSzPts val="1300"/>
              <a:buChar char="●"/>
            </a:pPr>
            <a:r>
              <a:rPr lang="en" sz="1300">
                <a:solidFill>
                  <a:srgbClr val="014242"/>
                </a:solidFill>
                <a:highlight>
                  <a:srgbClr val="FFFFFF"/>
                </a:highlight>
                <a:latin typeface="Arial"/>
                <a:ea typeface="Arial"/>
                <a:cs typeface="Arial"/>
                <a:sym typeface="Arial"/>
              </a:rPr>
              <a:t>A queuing solution is aimed at making the life better not only for your customers but also employees. Once their time is freed up to pursue more important tasks, customer service improves by leaps and bounds.</a:t>
            </a:r>
            <a:endParaRPr sz="1300">
              <a:solidFill>
                <a:srgbClr val="014242"/>
              </a:solidFill>
              <a:highlight>
                <a:srgbClr val="FFFFFF"/>
              </a:highlight>
              <a:latin typeface="Arial"/>
              <a:ea typeface="Arial"/>
              <a:cs typeface="Arial"/>
              <a:sym typeface="Arial"/>
            </a:endParaRPr>
          </a:p>
          <a:p>
            <a:pPr indent="-311150" lvl="0" marL="457200" rtl="0" algn="just">
              <a:lnSpc>
                <a:spcPct val="150000"/>
              </a:lnSpc>
              <a:spcBef>
                <a:spcPts val="0"/>
              </a:spcBef>
              <a:spcAft>
                <a:spcPts val="0"/>
              </a:spcAft>
              <a:buSzPts val="1300"/>
              <a:buChar char="●"/>
            </a:pPr>
            <a:r>
              <a:rPr lang="en" sz="1300"/>
              <a:t>This system can be used in healthcare sector , pharmacies , waiting for tables at restaurants ,airports , railway stations etc</a:t>
            </a:r>
            <a:endParaRPr sz="1300">
              <a:solidFill>
                <a:srgbClr val="014242"/>
              </a:solidFill>
              <a:highlight>
                <a:srgbClr val="FFFFFF"/>
              </a:highlight>
              <a:latin typeface="Arial"/>
              <a:ea typeface="Arial"/>
              <a:cs typeface="Arial"/>
              <a:sym typeface="Arial"/>
            </a:endParaRPr>
          </a:p>
          <a:p>
            <a:pPr indent="-311150" lvl="0" marL="457200" rtl="0" algn="just">
              <a:lnSpc>
                <a:spcPct val="150000"/>
              </a:lnSpc>
              <a:spcBef>
                <a:spcPts val="0"/>
              </a:spcBef>
              <a:spcAft>
                <a:spcPts val="0"/>
              </a:spcAft>
              <a:buClr>
                <a:srgbClr val="014242"/>
              </a:buClr>
              <a:buSzPts val="1300"/>
              <a:buFont typeface="Arial"/>
              <a:buChar char="●"/>
            </a:pPr>
            <a:r>
              <a:rPr lang="en" sz="1300">
                <a:solidFill>
                  <a:srgbClr val="014242"/>
                </a:solidFill>
                <a:highlight>
                  <a:srgbClr val="FFFFFF"/>
                </a:highlight>
                <a:latin typeface="Arial"/>
                <a:ea typeface="Arial"/>
                <a:cs typeface="Arial"/>
                <a:sym typeface="Arial"/>
              </a:rPr>
              <a:t>Hence, this is reqd. In all cases where ‘demand exceeds the supply.’</a:t>
            </a:r>
            <a:endParaRPr sz="1300">
              <a:solidFill>
                <a:srgbClr val="014242"/>
              </a:solidFill>
              <a:highlight>
                <a:srgbClr val="FFFFFF"/>
              </a:highlight>
              <a:latin typeface="Arial"/>
              <a:ea typeface="Arial"/>
              <a:cs typeface="Arial"/>
              <a:sym typeface="Arial"/>
            </a:endParaRPr>
          </a:p>
          <a:p>
            <a:pPr indent="0" lvl="0" marL="457200" rtl="0" algn="just">
              <a:spcBef>
                <a:spcPts val="0"/>
              </a:spcBef>
              <a:spcAft>
                <a:spcPts val="1200"/>
              </a:spcAft>
              <a:buNone/>
            </a:pPr>
            <a:r>
              <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542750" y="3999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98" name="Google Shape;98;p15"/>
          <p:cNvSpPr txBox="1"/>
          <p:nvPr>
            <p:ph idx="1" type="body"/>
          </p:nvPr>
        </p:nvSpPr>
        <p:spPr>
          <a:xfrm>
            <a:off x="142500" y="1092825"/>
            <a:ext cx="9042900" cy="33390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Char char="●"/>
            </a:pPr>
            <a:r>
              <a:rPr lang="en" sz="1400"/>
              <a:t>We aim to apply the methods of Machine Learning to Queueing systems to build a model that sophisticatedly predicts the waiting time of queues in the banking scenario. </a:t>
            </a:r>
            <a:endParaRPr sz="1400"/>
          </a:p>
          <a:p>
            <a:pPr indent="-317500" lvl="0" marL="457200" rtl="0" algn="l">
              <a:lnSpc>
                <a:spcPct val="150000"/>
              </a:lnSpc>
              <a:spcBef>
                <a:spcPts val="1000"/>
              </a:spcBef>
              <a:spcAft>
                <a:spcPts val="0"/>
              </a:spcAft>
              <a:buSzPts val="1400"/>
              <a:buChar char="●"/>
            </a:pPr>
            <a:r>
              <a:rPr lang="en" sz="1400"/>
              <a:t>Thoroughly</a:t>
            </a:r>
            <a:r>
              <a:rPr lang="en" sz="1400"/>
              <a:t> predicted values can help organizations come up with ways to reduce waiting times and increase the customer inflow, hence improving their overall service. In real world, there’s a huge gap between the service level and demand. </a:t>
            </a:r>
            <a:endParaRPr sz="1400"/>
          </a:p>
          <a:p>
            <a:pPr indent="-317500" lvl="0" marL="457200" rtl="0" algn="l">
              <a:lnSpc>
                <a:spcPct val="150000"/>
              </a:lnSpc>
              <a:spcBef>
                <a:spcPts val="1000"/>
              </a:spcBef>
              <a:spcAft>
                <a:spcPts val="1000"/>
              </a:spcAft>
              <a:buSzPts val="1400"/>
              <a:buChar char="●"/>
            </a:pPr>
            <a:r>
              <a:rPr lang="en" sz="1400"/>
              <a:t>Our model aims at bridging this gap by bringing an improvement to the prediction of the overall waiting time for daily appointments, when compared to the rough estimates that are typically given to customers.</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623400" y="4301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PLAN</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For the purpose of implementing the model, we will use Python 3 and Jupyter notebooks.</a:t>
            </a:r>
            <a:endParaRPr sz="1400"/>
          </a:p>
          <a:p>
            <a:pPr indent="-317500" lvl="0" marL="457200" rtl="0" algn="l">
              <a:spcBef>
                <a:spcPts val="1000"/>
              </a:spcBef>
              <a:spcAft>
                <a:spcPts val="0"/>
              </a:spcAft>
              <a:buSzPts val="1400"/>
              <a:buChar char="●"/>
            </a:pPr>
            <a:r>
              <a:rPr lang="en" sz="1400"/>
              <a:t>After a bit of research and deliberation we are more inclined to use the M/M/c queuing model.</a:t>
            </a:r>
            <a:endParaRPr sz="1400"/>
          </a:p>
          <a:p>
            <a:pPr indent="-317500" lvl="0" marL="457200" rtl="0" algn="l">
              <a:spcBef>
                <a:spcPts val="1000"/>
              </a:spcBef>
              <a:spcAft>
                <a:spcPts val="0"/>
              </a:spcAft>
              <a:buSzPts val="1400"/>
              <a:buChar char="●"/>
            </a:pPr>
            <a:r>
              <a:rPr lang="en" sz="1400"/>
              <a:t>A D</a:t>
            </a:r>
            <a:r>
              <a:rPr lang="en" sz="1400"/>
              <a:t>ata set will be used to evaluate the performance of our system, by </a:t>
            </a:r>
            <a:r>
              <a:rPr lang="en" sz="1400"/>
              <a:t>splitting</a:t>
            </a:r>
            <a:r>
              <a:rPr lang="en" sz="1400"/>
              <a:t> the dataset into a training set (80%) and a validation set (20%).</a:t>
            </a:r>
            <a:endParaRPr sz="1400"/>
          </a:p>
          <a:p>
            <a:pPr indent="-317500" lvl="0" marL="457200" rtl="0" algn="l">
              <a:spcBef>
                <a:spcPts val="1000"/>
              </a:spcBef>
              <a:spcAft>
                <a:spcPts val="0"/>
              </a:spcAft>
              <a:buSzPts val="1400"/>
              <a:buChar char="●"/>
            </a:pPr>
            <a:r>
              <a:rPr lang="en" sz="1400"/>
              <a:t>We will train and fit the data and feed it into various models</a:t>
            </a:r>
            <a:endParaRPr sz="1400"/>
          </a:p>
          <a:p>
            <a:pPr indent="-317500" lvl="0" marL="457200" rtl="0" algn="l">
              <a:spcBef>
                <a:spcPts val="1000"/>
              </a:spcBef>
              <a:spcAft>
                <a:spcPts val="0"/>
              </a:spcAft>
              <a:buSzPts val="1400"/>
              <a:buChar char="●"/>
            </a:pPr>
            <a:r>
              <a:rPr lang="en" sz="1400"/>
              <a:t>In the 2nd week of March, we will spend time in the collection of testing data.</a:t>
            </a:r>
            <a:endParaRPr sz="1400"/>
          </a:p>
          <a:p>
            <a:pPr indent="-317500" lvl="0" marL="457200" rtl="0" algn="l">
              <a:spcBef>
                <a:spcPts val="1000"/>
              </a:spcBef>
              <a:spcAft>
                <a:spcPts val="0"/>
              </a:spcAft>
              <a:buSzPts val="1400"/>
              <a:buChar char="●"/>
            </a:pPr>
            <a:r>
              <a:rPr lang="en" sz="1400"/>
              <a:t>On the basis of that data, the 3rd and 4th week will be utilized in constructing the model. We will try our best to wrap things up by 1st April.</a:t>
            </a:r>
            <a:endParaRPr sz="1400"/>
          </a:p>
          <a:p>
            <a:pPr indent="0" lvl="0" marL="0" rtl="0" algn="l">
              <a:spcBef>
                <a:spcPts val="1000"/>
              </a:spcBef>
              <a:spcAft>
                <a:spcPts val="0"/>
              </a:spcAft>
              <a:buNone/>
            </a:pPr>
            <a:r>
              <a:t/>
            </a:r>
            <a:endParaRPr sz="1400"/>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5025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KNOWLEDGE TO BE GAINED</a:t>
            </a:r>
            <a:endParaRPr/>
          </a:p>
        </p:txBody>
      </p:sp>
      <p:sp>
        <p:nvSpPr>
          <p:cNvPr id="110" name="Google Shape;110;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We learn real life applications queuing system, how to efficiently use it and ease us the workload in many areas.</a:t>
            </a:r>
            <a:endParaRPr sz="1400"/>
          </a:p>
          <a:p>
            <a:pPr indent="-317500" lvl="0" marL="457200" rtl="0" algn="l">
              <a:spcBef>
                <a:spcPts val="1000"/>
              </a:spcBef>
              <a:spcAft>
                <a:spcPts val="0"/>
              </a:spcAft>
              <a:buSzPts val="1400"/>
              <a:buChar char="●"/>
            </a:pPr>
            <a:r>
              <a:rPr lang="en" sz="1400"/>
              <a:t>Modern advancements and pre planned future projects can surely help in coming up with more effective queueing systems.</a:t>
            </a:r>
            <a:endParaRPr sz="1400"/>
          </a:p>
          <a:p>
            <a:pPr indent="-317500" lvl="0" marL="457200" rtl="0" algn="l">
              <a:spcBef>
                <a:spcPts val="1000"/>
              </a:spcBef>
              <a:spcAft>
                <a:spcPts val="0"/>
              </a:spcAft>
              <a:buSzPts val="1400"/>
              <a:buChar char="●"/>
            </a:pPr>
            <a:r>
              <a:rPr lang="en" sz="1400"/>
              <a:t>We will learn how to perform exploratory data analysis and also train and validate the publicly available dataset.</a:t>
            </a:r>
            <a:endParaRPr sz="1400"/>
          </a:p>
          <a:p>
            <a:pPr indent="-317500" lvl="0" marL="457200" rtl="0" algn="l">
              <a:spcBef>
                <a:spcPts val="1000"/>
              </a:spcBef>
              <a:spcAft>
                <a:spcPts val="1000"/>
              </a:spcAft>
              <a:buSzPts val="1400"/>
              <a:buChar char="●"/>
            </a:pPr>
            <a:r>
              <a:rPr lang="en" sz="1400"/>
              <a:t>We also see this as a good opportunity to learn and apply the concepts of machine learning in building this model.</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623400" y="4321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16" name="Google Shape;116;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u="sng">
                <a:solidFill>
                  <a:schemeClr val="hlink"/>
                </a:solidFill>
                <a:hlinkClick r:id="rId3"/>
              </a:rPr>
              <a:t>https://ieeexplore.ieee.org/document/9027796</a:t>
            </a:r>
            <a:endParaRPr sz="1900"/>
          </a:p>
          <a:p>
            <a:pPr indent="0" lvl="0" marL="0" rtl="0" algn="l">
              <a:spcBef>
                <a:spcPts val="1200"/>
              </a:spcBef>
              <a:spcAft>
                <a:spcPts val="0"/>
              </a:spcAft>
              <a:buNone/>
            </a:pPr>
            <a:r>
              <a:rPr lang="en" sz="1900" u="sng">
                <a:solidFill>
                  <a:schemeClr val="hlink"/>
                </a:solidFill>
                <a:hlinkClick r:id="rId4"/>
              </a:rPr>
              <a:t>https://www.scss.tcd.ie/publications/theses/diss/2018/TCD-SCSS-DISSERTATION-2018-023.pdf</a:t>
            </a:r>
            <a:endParaRPr sz="1900"/>
          </a:p>
          <a:p>
            <a:pPr indent="0" lvl="0" marL="0" rtl="0" algn="l">
              <a:spcBef>
                <a:spcPts val="1200"/>
              </a:spcBef>
              <a:spcAft>
                <a:spcPts val="1200"/>
              </a:spcAft>
              <a:buNone/>
            </a:pPr>
            <a:r>
              <a:rPr lang="en" sz="1700" u="sng">
                <a:solidFill>
                  <a:schemeClr val="hlink"/>
                </a:solidFill>
                <a:latin typeface="Arial"/>
                <a:ea typeface="Arial"/>
                <a:cs typeface="Arial"/>
                <a:sym typeface="Arial"/>
                <a:hlinkClick r:id="rId5"/>
              </a:rPr>
              <a:t>What Is a Queuing System? | Qminder</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idx="1" type="body"/>
          </p:nvPr>
        </p:nvSpPr>
        <p:spPr>
          <a:xfrm>
            <a:off x="321750" y="391800"/>
            <a:ext cx="8277600" cy="13260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 sz="8088">
                <a:solidFill>
                  <a:schemeClr val="accent2"/>
                </a:solidFill>
              </a:rPr>
              <a:t>TEAM MEMBERS</a:t>
            </a:r>
            <a:r>
              <a:rPr lang="en" sz="8088"/>
              <a:t>:</a:t>
            </a:r>
            <a:endParaRPr sz="5288"/>
          </a:p>
          <a:p>
            <a:pPr indent="0" lvl="0" marL="0" rtl="0" algn="ctr">
              <a:spcBef>
                <a:spcPts val="1200"/>
              </a:spcBef>
              <a:spcAft>
                <a:spcPts val="0"/>
              </a:spcAft>
              <a:buNone/>
            </a:pPr>
            <a:r>
              <a:rPr lang="en" sz="5288"/>
              <a:t>1) Shubhan Mittal 2) Pranavi G. 3) Pranjal Jasani 4) Ritik Pachauri 5) Akshat Singh 6) Akshat Deshmukh         7) Harrshit Limbodia 8) N. Muskan 9) Raghav Gupta</a:t>
            </a:r>
            <a:endParaRPr sz="5288"/>
          </a:p>
          <a:p>
            <a:pPr indent="0" lvl="0" marL="0" rtl="0" algn="l">
              <a:spcBef>
                <a:spcPts val="1200"/>
              </a:spcBef>
              <a:spcAft>
                <a:spcPts val="0"/>
              </a:spcAft>
              <a:buNone/>
            </a:pPr>
            <a:r>
              <a:t/>
            </a:r>
            <a:endParaRPr sz="5288"/>
          </a:p>
          <a:p>
            <a:pPr indent="0" lvl="0" marL="0" rtl="0" algn="l">
              <a:spcBef>
                <a:spcPts val="1200"/>
              </a:spcBef>
              <a:spcAft>
                <a:spcPts val="0"/>
              </a:spcAft>
              <a:buNone/>
            </a:pPr>
            <a:r>
              <a:t/>
            </a:r>
            <a:endParaRPr sz="5288"/>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22" name="Google Shape;122;p19"/>
          <p:cNvSpPr txBox="1"/>
          <p:nvPr/>
        </p:nvSpPr>
        <p:spPr>
          <a:xfrm>
            <a:off x="372750" y="2893225"/>
            <a:ext cx="83181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0">
                <a:latin typeface="Roboto"/>
                <a:ea typeface="Roboto"/>
                <a:cs typeface="Roboto"/>
                <a:sym typeface="Roboto"/>
              </a:rPr>
              <a:t>              THANK YOU</a:t>
            </a:r>
            <a:endParaRPr sz="5000">
              <a:latin typeface="Roboto"/>
              <a:ea typeface="Roboto"/>
              <a:cs typeface="Roboto"/>
              <a:sym typeface="Roboto"/>
            </a:endParaRPr>
          </a:p>
        </p:txBody>
      </p:sp>
      <p:sp>
        <p:nvSpPr>
          <p:cNvPr id="123" name="Google Shape;123;p19"/>
          <p:cNvSpPr/>
          <p:nvPr/>
        </p:nvSpPr>
        <p:spPr>
          <a:xfrm>
            <a:off x="0" y="1928875"/>
            <a:ext cx="9144000" cy="231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